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8" r:id="rId3"/>
    <p:sldId id="261" r:id="rId4"/>
    <p:sldId id="281" r:id="rId5"/>
    <p:sldId id="263" r:id="rId6"/>
    <p:sldId id="265" r:id="rId7"/>
    <p:sldId id="296" r:id="rId8"/>
    <p:sldId id="264" r:id="rId9"/>
    <p:sldId id="266" r:id="rId10"/>
    <p:sldId id="267" r:id="rId11"/>
    <p:sldId id="286" r:id="rId12"/>
    <p:sldId id="282" r:id="rId13"/>
    <p:sldId id="283" r:id="rId14"/>
    <p:sldId id="284" r:id="rId15"/>
    <p:sldId id="288" r:id="rId16"/>
    <p:sldId id="290" r:id="rId17"/>
    <p:sldId id="287" r:id="rId18"/>
    <p:sldId id="289" r:id="rId19"/>
    <p:sldId id="285" r:id="rId20"/>
    <p:sldId id="291" r:id="rId21"/>
    <p:sldId id="276" r:id="rId22"/>
    <p:sldId id="295" r:id="rId23"/>
    <p:sldId id="294" r:id="rId24"/>
  </p:sldIdLst>
  <p:sldSz cx="12192000" cy="6858000"/>
  <p:notesSz cx="6858000" cy="9144000"/>
  <p:embeddedFontLst>
    <p:embeddedFont>
      <p:font typeface="Libre Baskerville" panose="02000000000000000000" pitchFamily="2" charset="0"/>
      <p:regular r:id="rId26"/>
      <p:bold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926" y="77"/>
      </p:cViewPr>
      <p:guideLst/>
    </p:cSldViewPr>
  </p:slideViewPr>
  <p:outlineViewPr>
    <p:cViewPr>
      <p:scale>
        <a:sx n="33" d="100"/>
        <a:sy n="33" d="100"/>
      </p:scale>
      <p:origin x="0" y="-43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0407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D62AA37B-3AFB-F95C-1479-A55A2AFC4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26A14D5-57DC-1535-F830-7E506F507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5B350644-8005-98F8-E5CB-C2F973483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540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199" y="-334298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104644" y="4860435"/>
            <a:ext cx="9291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of Flipkart Air Conditioner Market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34060-7C8D-AF38-A6E1-F41E2C6F2AE5}"/>
              </a:ext>
            </a:extLst>
          </p:cNvPr>
          <p:cNvSpPr txBox="1"/>
          <p:nvPr/>
        </p:nvSpPr>
        <p:spPr>
          <a:xfrm>
            <a:off x="3134031" y="3429000"/>
            <a:ext cx="61107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Flipkart Air Conditioner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1898-F3F3-4391-5B5D-C100FB68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22" y="276635"/>
            <a:ext cx="10515600" cy="915035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3F87A-8911-2A6B-0436-A3C21B64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5177" y="1191670"/>
            <a:ext cx="9721645" cy="4351338"/>
          </a:xfrm>
        </p:spPr>
        <p:txBody>
          <a:bodyPr>
            <a:normAutofit fontScale="70000" lnSpcReduction="20000"/>
          </a:bodyPr>
          <a:lstStyle/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SCRAPPING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5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09" y="303080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DCD9-A327-3BE0-5E99-2B80AB2B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707" y="1380941"/>
            <a:ext cx="7559041" cy="434731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Flipkart is a leading e-commerce platform in India offering a wide range of products, including air conditioners, with detailed specifications, prices, ratings, and reviews.</a:t>
            </a:r>
          </a:p>
          <a:p>
            <a:pPr algn="just"/>
            <a:r>
              <a:rPr lang="en-US" dirty="0"/>
              <a:t>The platform allows customers to compare features and prices, helping them make informed purchasing decisions.</a:t>
            </a:r>
          </a:p>
          <a:p>
            <a:pPr algn="just"/>
            <a:r>
              <a:rPr lang="en-US" dirty="0"/>
              <a:t>Flipkart also provides discounts, deals, and convenient delivery options, making AC shopping easier and more accessible.</a:t>
            </a:r>
            <a:endParaRPr lang="en-IN" dirty="0"/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5A9C1FF-A45A-3E8C-C79A-1FEE84DE7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6703" y="1017463"/>
            <a:ext cx="5311877" cy="379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801625" y="1320730"/>
            <a:ext cx="7793879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market has many air conditioner models,</a:t>
            </a:r>
            <a:br>
              <a:rPr lang="en-US" sz="2400" dirty="0"/>
            </a:br>
            <a:r>
              <a:rPr lang="en-US" sz="2400" dirty="0"/>
              <a:t>making it hard for customers to choose the right one.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Identifying the best value for money</a:t>
            </a:r>
            <a:br>
              <a:rPr lang="en-US" sz="2400" dirty="0"/>
            </a:br>
            <a:r>
              <a:rPr lang="en-US" sz="2400" dirty="0"/>
              <a:t>among various options is confusing.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Prices, features, ratings, and reviews differ widely,</a:t>
            </a:r>
            <a:br>
              <a:rPr lang="en-US" sz="2400" dirty="0"/>
            </a:br>
            <a:r>
              <a:rPr lang="en-US" sz="2400" dirty="0"/>
              <a:t>adding to the selection challenge.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This study analyzes the AC dataset</a:t>
            </a:r>
            <a:br>
              <a:rPr lang="en-US" sz="2400" dirty="0"/>
            </a:br>
            <a:r>
              <a:rPr lang="en-US" sz="2400" dirty="0"/>
              <a:t>to find features affecting price and satisfaction</a:t>
            </a:r>
            <a:r>
              <a:rPr lang="en-US" sz="2000" dirty="0"/>
              <a:t>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C8BC78E3-D16F-DD8B-2D42-05DAA206C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3245" y="1042219"/>
            <a:ext cx="533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9721645" cy="44119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To </a:t>
            </a:r>
            <a:r>
              <a:rPr lang="en-US" sz="2400" b="1" dirty="0"/>
              <a:t>analyze and compare air conditioner models</a:t>
            </a:r>
            <a:r>
              <a:rPr lang="en-US" sz="2400" dirty="0"/>
              <a:t> on Flipkart,</a:t>
            </a:r>
            <a:br>
              <a:rPr lang="en-US" sz="2400" dirty="0"/>
            </a:br>
            <a:r>
              <a:rPr lang="en-US" sz="2400" dirty="0"/>
              <a:t>considering features, prices, ratings, and customer reviews.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To </a:t>
            </a:r>
            <a:r>
              <a:rPr lang="en-US" sz="2400" b="1" dirty="0"/>
              <a:t>identify key factors affecting price and customer satisfaction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helping buyers make informed purchasing decisions.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To </a:t>
            </a:r>
            <a:r>
              <a:rPr lang="en-US" sz="2400" b="1" dirty="0"/>
              <a:t>provide insights for selecting the right AC  </a:t>
            </a:r>
            <a:r>
              <a:rPr lang="en-US" sz="2400" dirty="0"/>
              <a:t>that ensures value for money and convenience.</a:t>
            </a: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940671" y="1280672"/>
            <a:ext cx="5155329" cy="511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Selected Flipkart as the data source for air conditioners and used browser developer tools to identify relevant HTML tags for scraping.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Extracted product data (features, prices, ratings) using </a:t>
            </a:r>
            <a:r>
              <a:rPr lang="en-US" sz="2000" b="1" dirty="0"/>
              <a:t>Requests</a:t>
            </a:r>
            <a:r>
              <a:rPr lang="en-US" sz="2000" dirty="0"/>
              <a:t> and </a:t>
            </a:r>
            <a:r>
              <a:rPr lang="en-US" sz="2000" b="1" dirty="0" err="1"/>
              <a:t>BeautifulSoup</a:t>
            </a:r>
            <a:r>
              <a:rPr lang="en-US" sz="2000" dirty="0"/>
              <a:t> by sending HTTP requests to fetch web pages.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Conducted Exploratory Data Analysis (EDA) to uncover trends in product features, pricing, and customer reviews.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6D7033-9D9B-5C9E-20C8-D817F72D1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652" y="629265"/>
            <a:ext cx="5958348" cy="520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927B-2C25-40CC-4590-F7F1CDE38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E8BBF-25D0-6779-0CC9-D47815541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1"/>
            <a:ext cx="2740742" cy="997974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E2FF7-9668-C14C-6A8E-CBB89CF7A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4232"/>
            <a:ext cx="10822858" cy="5252731"/>
          </a:xfrm>
        </p:spPr>
        <p:txBody>
          <a:bodyPr/>
          <a:lstStyle/>
          <a:p>
            <a:r>
              <a:rPr lang="en-IN" dirty="0"/>
              <a:t>Rows:- 2288 </a:t>
            </a:r>
          </a:p>
          <a:p>
            <a:r>
              <a:rPr lang="en-IN" dirty="0"/>
              <a:t>Columns:-18</a:t>
            </a:r>
          </a:p>
          <a:p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66352F-CE67-CB44-17FE-AEB2AB6A7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7413"/>
            <a:ext cx="10822859" cy="412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684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74" y="216311"/>
            <a:ext cx="4019550" cy="1301286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/>
              <a:t>Libraries Used</a:t>
            </a:r>
            <a:r>
              <a:rPr lang="en-IN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16" y="1430131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1032387" y="1179872"/>
            <a:ext cx="6253784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 raw text data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removing unwanted symbols and words (₹, commas, “Ratings”, “off”) and converting price, discount, rating, and review columns into proper numeric formats.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product attributes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extracting brand names, converting AC capacity (tonnage), energy ratings, annual power usage, and room size into consistent, analysis-ready values.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Handled missing and inconsistent values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replacing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entries, fixing data types, and renaming columns to improve overall dataset quality and readability.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7681A-B9E8-CE3B-FF77-EB103F3E2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170" y="602343"/>
            <a:ext cx="4905829" cy="519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Univariate Analysis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21342-FF3B-A195-33FF-DA36CFC36F5B}"/>
              </a:ext>
            </a:extLst>
          </p:cNvPr>
          <p:cNvSpPr txBox="1"/>
          <p:nvPr/>
        </p:nvSpPr>
        <p:spPr>
          <a:xfrm>
            <a:off x="848303" y="969357"/>
            <a:ext cx="5011948" cy="5114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dataset is </a:t>
            </a:r>
            <a:r>
              <a:rPr lang="en-US" sz="2000" b="1" dirty="0"/>
              <a:t>dominated by 2025 model air conditioners</a:t>
            </a:r>
            <a:r>
              <a:rPr lang="en-US" sz="2000" dirty="0"/>
              <a:t>, with significantly more products than 2024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Very few 2024 models</a:t>
            </a:r>
            <a:r>
              <a:rPr lang="en-US" sz="2000" dirty="0"/>
              <a:t> are available, indicating limited listings of older products on the platform.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shows that </a:t>
            </a:r>
            <a:r>
              <a:rPr lang="en-US" sz="2000" b="1" dirty="0"/>
              <a:t>Flipkart mainly focuses on newer AC models</a:t>
            </a:r>
            <a:r>
              <a:rPr lang="en-US" sz="2000" dirty="0"/>
              <a:t>, offering customers the latest products and technologies.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graph with blue squares">
            <a:extLst>
              <a:ext uri="{FF2B5EF4-FFF2-40B4-BE49-F238E27FC236}">
                <a16:creationId xmlns:a16="http://schemas.microsoft.com/office/drawing/2014/main" id="{9FE99C1D-FC48-096F-D5E8-0ABAC898D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733" y="530941"/>
            <a:ext cx="5402943" cy="538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Univariate Analysis: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DFE87-3B98-24A9-3C1B-2A43B4D9DD06}"/>
              </a:ext>
            </a:extLst>
          </p:cNvPr>
          <p:cNvSpPr txBox="1"/>
          <p:nvPr/>
        </p:nvSpPr>
        <p:spPr>
          <a:xfrm>
            <a:off x="932364" y="969357"/>
            <a:ext cx="5011948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 holds the largest share at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25%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it the most prominent brand in the product distribution.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Brands like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MarQ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10.9%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Panasonic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10.2%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and Voltas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9.4%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have significant but much smaller shares compared to Blue, indicating a competitive mid-tier market.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Several brands, including IFB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0%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ONIDA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3.8%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LG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3.9%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and Godrej (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4.8%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have relatively minor representation, suggesting limited market presence.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C191C7-5355-735A-5178-3C7AC4E6B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689" y="198749"/>
            <a:ext cx="5772956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39" y="108155"/>
            <a:ext cx="5147304" cy="757084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Bivariate Analysis: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9B3D8-24F0-BFDD-F8CA-E6AACD40E032}"/>
              </a:ext>
            </a:extLst>
          </p:cNvPr>
          <p:cNvSpPr txBox="1"/>
          <p:nvPr/>
        </p:nvSpPr>
        <p:spPr>
          <a:xfrm>
            <a:off x="471948" y="875071"/>
            <a:ext cx="5250652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and IFB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positioned as premium brands with the highest original prices, while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MarQ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Lloyd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clearly more budget-friendly options.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Significant discounts are offered across all brands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promotional pricing strategies on Flipkart to attract customers.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after discounts, premium brands such as Daikin and Samsung remain relatively expensive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whereas budget brands continue to focus on affordability to appeal to price-sensitive buyers.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A8205D-1D64-75B7-84E8-4DCFF4EAF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600" y="662062"/>
            <a:ext cx="6366077" cy="533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260" y="354768"/>
            <a:ext cx="517268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Bivariate Analysis: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890F0-5585-BA3C-7BA1-63E4312F4CE6}"/>
              </a:ext>
            </a:extLst>
          </p:cNvPr>
          <p:cNvSpPr txBox="1"/>
          <p:nvPr/>
        </p:nvSpPr>
        <p:spPr>
          <a:xfrm>
            <a:off x="754195" y="1322480"/>
            <a:ext cx="50119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and IFB are premium brands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the highest original prices, while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MarQ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Lloyd target the budget segment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the lowest prices.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Voltas, Samsung, Panasonic, and Midea cluster in the ₹50,000–₹60,000 range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intense competition in the mid-price segment.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 price variation and overlap across brands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suggest multiple product models and competitive pricing even among premium brands.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D8B2269-768A-435C-686C-D0E9DC385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LG and Blue Star show the highest original prices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they are positioned as premium AC brands.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A graph with blue dots and white text&#10;&#10;AI-generated content may be incorrect.">
            <a:extLst>
              <a:ext uri="{FF2B5EF4-FFF2-40B4-BE49-F238E27FC236}">
                <a16:creationId xmlns:a16="http://schemas.microsoft.com/office/drawing/2014/main" id="{E0CC83EC-B15B-BB91-3415-2D9653283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143" y="639098"/>
            <a:ext cx="6195597" cy="444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1A13-0770-5F19-9105-5BE0808A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71AE-6593-5B1A-5289-CECB9FBCD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354768"/>
            <a:ext cx="5196466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Bivariate Analysis: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675CAD-1E1B-F447-802D-9FF27DCEEEAF}"/>
              </a:ext>
            </a:extLst>
          </p:cNvPr>
          <p:cNvSpPr txBox="1"/>
          <p:nvPr/>
        </p:nvSpPr>
        <p:spPr>
          <a:xfrm>
            <a:off x="754195" y="1332312"/>
            <a:ext cx="50119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 has the highest average original price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clearly leading the premium segment among all brands.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IFB and ONIDA follow closely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premium positioning with similar pricing levels.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Voltas and Midea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complete the top five but are priced slightly lower, positioning them at the upper end of the mid-range segment rather than true premium.</a:t>
            </a:r>
          </a:p>
        </p:txBody>
      </p:sp>
      <p:pic>
        <p:nvPicPr>
          <p:cNvPr id="5" name="Picture 4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ED9831E4-B6C2-41F9-9DC3-A124E461C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142" y="786016"/>
            <a:ext cx="6425857" cy="45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5667-5F7A-A4C2-EFC8-E3586195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4E140-5F98-DE88-FD81-3C52AFAA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Bivariate Analysis: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3DA78F-BD5C-9EC8-C098-C05D7761A9C3}"/>
              </a:ext>
            </a:extLst>
          </p:cNvPr>
          <p:cNvSpPr txBox="1"/>
          <p:nvPr/>
        </p:nvSpPr>
        <p:spPr>
          <a:xfrm>
            <a:off x="568785" y="969357"/>
            <a:ext cx="5289755" cy="548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Mid-range prices (₹25k–₹32k)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attract the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highest review volumes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including several peaks above 6,000 reviews, suggesting stronger demand or popularity in this band.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Higher-priced items (₹38k–₹46k)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generally receive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fewer reviews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lower purchase volume or niche buyers at premium prices.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strong linear relationship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discount price and reviews overall—reviews vary widely at similar prices, implying factors beyond price (brand, features, promotions) drive engagement.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6" name="Picture 5" descr="A graph of blue dots&#10;&#10;AI-generated content may be incorrect.">
            <a:extLst>
              <a:ext uri="{FF2B5EF4-FFF2-40B4-BE49-F238E27FC236}">
                <a16:creationId xmlns:a16="http://schemas.microsoft.com/office/drawing/2014/main" id="{E9D3607C-236C-D6D3-211B-5E138CB44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862" y="599768"/>
            <a:ext cx="6111770" cy="519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80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818E-DAFD-9A23-AA9C-58C4207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189-12E1-CAA7-F203-94A1E3CD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Bivariate Analysis: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8D7F5-86EB-026A-C8B3-D862C9E02CF8}"/>
              </a:ext>
            </a:extLst>
          </p:cNvPr>
          <p:cNvSpPr txBox="1"/>
          <p:nvPr/>
        </p:nvSpPr>
        <p:spPr>
          <a:xfrm>
            <a:off x="667108" y="1474881"/>
            <a:ext cx="5428891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slight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decline in average rating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2024 to 2025. The average rating drops from roughly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4.2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2024 to about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4.164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2025.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decrease is small (~0.036), indicating the ratings are fairly stable year-over-year, but there is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 trend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line is smooth with only two points, so it suggests no major fluctuations in this timeframe.</a:t>
            </a: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309E75DE-2BE0-4017-999C-E5DFD89D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766916"/>
            <a:ext cx="5996716" cy="427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13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9E88-4526-D32F-FA99-F8D0DD33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11ECB-3EDE-E23F-4E4E-253ECB3A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4" y="168907"/>
            <a:ext cx="5107975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Multivariate Analysis: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21B98C-36DD-1030-763D-766FCDBA9E17}"/>
              </a:ext>
            </a:extLst>
          </p:cNvPr>
          <p:cNvSpPr txBox="1"/>
          <p:nvPr/>
        </p:nvSpPr>
        <p:spPr>
          <a:xfrm>
            <a:off x="722114" y="930947"/>
            <a:ext cx="5011948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 and Discount Relationship: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Original Price and Discount Price are strongly positively correlated (0.65), meaning higher-priced products receive higher discounts.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Features Influence Price: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Annual Power Usage moderately correlates with prices (0.38–0.39), showing that higher power-consuming products tend to be more expensive.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Feedback Less Impactful: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Ratings and Reviews Count have weak correlations with prices, indicating that popularity or ratings do not strongly affect pricing.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7E54B-B620-F139-2A88-E432900D8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057" y="639940"/>
            <a:ext cx="6293256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03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6375-873F-A5A0-AEE6-0EE96A9B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6D57-B54C-227A-553D-FBD81EC0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Multivariate Analysis: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69F69-AE06-2596-25E3-9599EFAFCE0B}"/>
              </a:ext>
            </a:extLst>
          </p:cNvPr>
          <p:cNvSpPr txBox="1"/>
          <p:nvPr/>
        </p:nvSpPr>
        <p:spPr>
          <a:xfrm>
            <a:off x="411469" y="998148"/>
            <a:ext cx="5556711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Midea,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MarQ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realme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offer high ratings (~4.2–4.29) at lower to mid-range prices (~₹22,000–30,000), providing strong value for money.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Daikin and Panasonic are the most expensive (~₹36,500–38,500) with good ratings (~4.2–4.24), appealing to customers seeking premium options.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Godrej has a relatively low rating (~4.0) despite a mid-to-high price (~₹33,000), indicating weaker perceived value.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EAECCE-7862-BBF3-D0C9-C8921CFB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180" y="1097177"/>
            <a:ext cx="6223819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01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Multivariate Analysis: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5F5D73-9438-374C-2CD9-92C838053E30}"/>
              </a:ext>
            </a:extLst>
          </p:cNvPr>
          <p:cNvSpPr txBox="1"/>
          <p:nvPr/>
        </p:nvSpPr>
        <p:spPr>
          <a:xfrm>
            <a:off x="804995" y="1532938"/>
            <a:ext cx="50119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Blue</a:t>
            </a:r>
            <a:r>
              <a:rPr lang="en-US" sz="2000" dirty="0"/>
              <a:t> has the highest number of both </a:t>
            </a:r>
            <a:r>
              <a:rPr lang="en-US" sz="2000" b="1" dirty="0"/>
              <a:t>3-star and 5-star</a:t>
            </a:r>
            <a:r>
              <a:rPr lang="en-US" sz="2000" dirty="0"/>
              <a:t> energy-rated products, indicating a wide and energy-diverse product portfolio.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Some brands like </a:t>
            </a:r>
            <a:r>
              <a:rPr lang="en-US" sz="2000" b="1" dirty="0" err="1"/>
              <a:t>MarQ</a:t>
            </a:r>
            <a:r>
              <a:rPr lang="en-US" sz="2000" b="1" dirty="0"/>
              <a:t> and LG</a:t>
            </a:r>
            <a:r>
              <a:rPr lang="en-US" sz="2000" dirty="0"/>
              <a:t> are dominated by </a:t>
            </a:r>
            <a:r>
              <a:rPr lang="en-US" sz="2000" b="1" dirty="0"/>
              <a:t>3-star ratings</a:t>
            </a:r>
            <a:r>
              <a:rPr lang="en-US" sz="2000" dirty="0"/>
              <a:t>, while </a:t>
            </a:r>
            <a:r>
              <a:rPr lang="en-US" sz="2000" b="1" dirty="0"/>
              <a:t>Godrej, Panasonic, and </a:t>
            </a:r>
            <a:r>
              <a:rPr lang="en-US" sz="2000" b="1" dirty="0" err="1"/>
              <a:t>realme</a:t>
            </a:r>
            <a:r>
              <a:rPr lang="en-US" sz="2000" dirty="0"/>
              <a:t> show a stronger presence of </a:t>
            </a:r>
            <a:r>
              <a:rPr lang="en-US" sz="2000" b="1" dirty="0"/>
              <a:t>5-star models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Several brands (e.g., </a:t>
            </a:r>
            <a:r>
              <a:rPr lang="en-US" sz="2000" b="1" dirty="0"/>
              <a:t>IFB, Lloyd, ONIDA</a:t>
            </a:r>
            <a:r>
              <a:rPr lang="en-US" sz="2000" dirty="0"/>
              <a:t>) have </a:t>
            </a:r>
            <a:r>
              <a:rPr lang="en-US" sz="2000" b="1" dirty="0"/>
              <a:t>very few or almost no 5-star products</a:t>
            </a:r>
            <a:r>
              <a:rPr lang="en-US" sz="2000" dirty="0"/>
              <a:t>, suggesting limited focus on top energy efficiency.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graph of energy rating&#10;&#10;AI-generated content may be incorrect.">
            <a:extLst>
              <a:ext uri="{FF2B5EF4-FFF2-40B4-BE49-F238E27FC236}">
                <a16:creationId xmlns:a16="http://schemas.microsoft.com/office/drawing/2014/main" id="{37F0FCC7-80E8-DC31-6BAB-584DB7D7E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943" y="432619"/>
            <a:ext cx="6325148" cy="476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BBF4-1CFA-CD8B-899F-E41585DD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B468-2A6E-A565-4345-2C57412B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798142" cy="98322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/>
              <a:t>Handling Outliers: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35C60-A4A6-ABC3-C525-541E49A6B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490" y="983226"/>
            <a:ext cx="12103510" cy="5193737"/>
          </a:xfrm>
        </p:spPr>
        <p:txBody>
          <a:bodyPr/>
          <a:lstStyle/>
          <a:p>
            <a:r>
              <a:rPr lang="en-US" dirty="0"/>
              <a:t>Outlier handling removed extreme high prices without changing the median, making the price distribution more representative and reliable for analysis.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02BA2-BEDE-3840-17FC-9C21E189B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2153265"/>
            <a:ext cx="5068837" cy="4023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6C6BFC-396F-9CD2-FDA2-BB5391235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799" y="2172929"/>
            <a:ext cx="6592220" cy="402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81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7" y="196645"/>
            <a:ext cx="3106993" cy="1012723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3F163-5794-8E69-C8AA-34093DCC0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9368" y="1209368"/>
            <a:ext cx="10144432" cy="496759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Product Focus &amp; Brand Positioning:-</a:t>
            </a:r>
            <a:br>
              <a:rPr lang="en-US" dirty="0"/>
            </a:br>
            <a:r>
              <a:rPr lang="en-US" dirty="0"/>
              <a:t>  Flipkart mainly features 2025 air conditioner models, highlighting its focus on newer products and technologies.</a:t>
            </a:r>
            <a:br>
              <a:rPr lang="en-US" dirty="0"/>
            </a:br>
            <a:r>
              <a:rPr lang="en-US" dirty="0"/>
              <a:t>  Premium brands target high-end buyers, while budget brands serve price-sensitive customers.</a:t>
            </a:r>
          </a:p>
          <a:p>
            <a:r>
              <a:rPr lang="en-US" b="1" dirty="0"/>
              <a:t>Pricing, Ratings &amp; Customer Satisfaction:-</a:t>
            </a:r>
            <a:br>
              <a:rPr lang="en-US" dirty="0"/>
            </a:br>
            <a:r>
              <a:rPr lang="en-US" dirty="0"/>
              <a:t>  Attractive discounts are offered across all brands, but higher prices do not guarantee better ratings.</a:t>
            </a:r>
            <a:br>
              <a:rPr lang="en-US" dirty="0"/>
            </a:br>
            <a:r>
              <a:rPr lang="en-US" dirty="0"/>
              <a:t>  Mid-range and budget brands often deliver high customer satisfaction and better value for money.</a:t>
            </a:r>
          </a:p>
          <a:p>
            <a:r>
              <a:rPr lang="en-US" b="1" dirty="0"/>
              <a:t>Energy Efficiency &amp; Value for Money:-</a:t>
            </a:r>
            <a:br>
              <a:rPr lang="en-US" dirty="0"/>
            </a:br>
            <a:r>
              <a:rPr lang="en-US" dirty="0"/>
              <a:t>  Most ACs are 3-Star rated, with limited availability of 5-Star energy-efficient models.</a:t>
            </a:r>
            <a:br>
              <a:rPr lang="en-US" dirty="0"/>
            </a:br>
            <a:r>
              <a:rPr lang="en-US" dirty="0"/>
              <a:t>  Buyers should prioritize energy efficiency, brand reliability, and features over price alone.</a:t>
            </a: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B056F-9062-30AD-DC3E-EDA58FCBD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0E098-0529-B472-5056-1F631A09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2" y="147485"/>
            <a:ext cx="6794090" cy="117003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Experiences &amp; Challenges: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B41E8-F5AA-8E10-F86C-2144FD1D6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7523"/>
            <a:ext cx="10515600" cy="4208206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 Collecting data through web scraping offered hands-on experience with real e-commerce data, but frequent layout changes and inconsistent tags made extraction complex.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 Cleaning the dataset was time-consuming due to mixed text–numeric formats, missing values, and unstandardized product features.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 Handling outliers and feature extraction required multiple iterations to ensure accuracy without losing meaningful information.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 Interpreting customer reviews and ratings was challenging, as they did not always directly align with price or product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1363571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1FB5D26-1BC2-45B5-5BCB-F1DF929F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>
            <a:extLst>
              <a:ext uri="{FF2B5EF4-FFF2-40B4-BE49-F238E27FC236}">
                <a16:creationId xmlns:a16="http://schemas.microsoft.com/office/drawing/2014/main" id="{A30C4859-54E9-B096-0C07-32BA83755F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3178" y="2579731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42F01092-7308-BBFE-4137-EAAC184D440C}"/>
              </a:ext>
            </a:extLst>
          </p:cNvPr>
          <p:cNvSpPr txBox="1"/>
          <p:nvPr/>
        </p:nvSpPr>
        <p:spPr>
          <a:xfrm>
            <a:off x="3983084" y="1081308"/>
            <a:ext cx="47162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630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1418</Words>
  <Application>Microsoft Office PowerPoint</Application>
  <PresentationFormat>Widescreen</PresentationFormat>
  <Paragraphs>90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Times New Roman</vt:lpstr>
      <vt:lpstr>Calibri</vt:lpstr>
      <vt:lpstr>Arial</vt:lpstr>
      <vt:lpstr>Libre Baskerville</vt:lpstr>
      <vt:lpstr>Wingdings</vt:lpstr>
      <vt:lpstr>Office Theme</vt:lpstr>
      <vt:lpstr>PowerPoint Presentation</vt:lpstr>
      <vt:lpstr>Agenda:</vt:lpstr>
      <vt:lpstr>Introduction:</vt:lpstr>
      <vt:lpstr>Business Problem:</vt:lpstr>
      <vt:lpstr>Objectives:</vt:lpstr>
      <vt:lpstr>Web Scraping:</vt:lpstr>
      <vt:lpstr>Dataset:</vt:lpstr>
      <vt:lpstr>Libraries Used:</vt:lpstr>
      <vt:lpstr>Data Cleaning Steps:</vt:lpstr>
      <vt:lpstr>Univariate Analysis:</vt:lpstr>
      <vt:lpstr>Univariate Analysis:</vt:lpstr>
      <vt:lpstr>Bivariate Analysis:</vt:lpstr>
      <vt:lpstr>Bivariate Analysis:</vt:lpstr>
      <vt:lpstr>Bivariate Analysis:</vt:lpstr>
      <vt:lpstr>Bivariate Analysis:</vt:lpstr>
      <vt:lpstr>Bivariate Analysis:</vt:lpstr>
      <vt:lpstr>Multivariate Analysis:</vt:lpstr>
      <vt:lpstr>Multivariate Analysis:</vt:lpstr>
      <vt:lpstr>Multivariate Analysis:</vt:lpstr>
      <vt:lpstr>Handling Outliers:</vt:lpstr>
      <vt:lpstr>Conclusion:</vt:lpstr>
      <vt:lpstr>Experiences &amp; Challenges: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hari chandana thumuluru</cp:lastModifiedBy>
  <cp:revision>33</cp:revision>
  <dcterms:created xsi:type="dcterms:W3CDTF">2021-02-16T05:19:01Z</dcterms:created>
  <dcterms:modified xsi:type="dcterms:W3CDTF">2025-12-16T18:11:13Z</dcterms:modified>
</cp:coreProperties>
</file>